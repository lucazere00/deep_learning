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8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2" r:id="rId14"/>
    <p:sldId id="271" r:id="rId15"/>
    <p:sldId id="260" r:id="rId16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99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4CCDE7A-CCB0-4254-A938-021FE5E68C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BBE8809-D314-459F-9468-4074EF195C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53C4C-502E-464F-BAA8-27DBB71A0B97}" type="datetimeFigureOut">
              <a:rPr lang="it-IT" smtClean="0"/>
              <a:t>20/02/2026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57FA047-E051-4289-A85E-B2C015C5BD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659A542-EC1B-4AD0-9F48-45B95ED926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6DAC5-7919-4EFE-B589-B197185C6EB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41929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6E82B-0561-4374-A755-5D7F376F3791}" type="datetimeFigureOut">
              <a:rPr lang="it-IT" noProof="0" smtClean="0"/>
              <a:t>20/02/2026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Modifica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7C824-2132-4BB7-8F95-0CAE4412AE81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438639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7C824-2132-4BB7-8F95-0CAE4412AE81}" type="slidenum">
              <a:rPr lang="it-IT" noProof="0" smtClean="0"/>
              <a:t>2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86586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7C824-2132-4BB7-8F95-0CAE4412AE81}" type="slidenum">
              <a:rPr lang="it-IT" noProof="0" smtClean="0"/>
              <a:t>12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0867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smtClean="0"/>
              <a:t>Fare clic per modificare lo stile del sottotitolo dello schema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9B43E50-D8C0-4AB8-B692-D33F8FB1039E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DAF5D6-3432-4737-940E-FCB92BD69F81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/>
              <a:t>Modificare gli stili del testo dello schema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460E87A-404B-43E1-8A8D-30D2BCF7A226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C6B7B6-6BDC-4A28-8E73-1A61448F0380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D3F342-B5CF-4467-B9DB-4E2655A2B423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8DD4B2-C3E2-48E8-85F3-188260B629C0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83F823-4EEB-4AE7-8B22-3110E500D1B4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7145F33-5E4E-49B7-BF39-AB2289E91211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it-IT" smtClean="0"/>
              <a:t>Fare clic sull'icona per inserire un'immagine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8C4A86-2147-43A1-9110-C8F45FAA8631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BDA436-B640-45F7-8025-0249A8DF7542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it-IT" smtClean="0"/>
              <a:t>Modifica gli stili del testo dello schema</a:t>
            </a:r>
          </a:p>
          <a:p>
            <a:pPr lvl="1" rtl="0"/>
            <a:r>
              <a:rPr lang="it-IT" smtClean="0"/>
              <a:t>Secondo livello</a:t>
            </a:r>
          </a:p>
          <a:p>
            <a:pPr lvl="2" rtl="0"/>
            <a:r>
              <a:rPr lang="it-IT" smtClean="0"/>
              <a:t>Terzo livello</a:t>
            </a:r>
          </a:p>
          <a:p>
            <a:pPr lvl="3" rtl="0"/>
            <a:r>
              <a:rPr lang="it-IT" smtClean="0"/>
              <a:t>Quarto livello</a:t>
            </a:r>
          </a:p>
          <a:p>
            <a:pPr lvl="4" rtl="0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23FC634-5A25-4169-AAD1-658470F5C9F9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/>
              <a:t>Modifica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9F3A7810-D3C5-4121-96C0-0361F9B18797}" type="datetime1">
              <a:rPr lang="it-IT" smtClean="0"/>
              <a:t>20/02/2026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opencv.com/detr-overview-and-inference/" TargetMode="External"/><Relationship Id="rId13" Type="http://schemas.openxmlformats.org/officeDocument/2006/relationships/hyperlink" Target="https://github.com/IDEA-Research/GroundingDINO" TargetMode="External"/><Relationship Id="rId3" Type="http://schemas.openxmlformats.org/officeDocument/2006/relationships/hyperlink" Target="https://huggingface.co/facebook/sam3" TargetMode="External"/><Relationship Id="rId7" Type="http://schemas.openxmlformats.org/officeDocument/2006/relationships/hyperlink" Target="https://ai.meta.com/research/publications/sam-3-segment-anything-with-concepts/" TargetMode="External"/><Relationship Id="rId12" Type="http://schemas.openxmlformats.org/officeDocument/2006/relationships/hyperlink" Target="https://akmaier.medium.com/grounding-dino-how-to-merge-attention-on-text-and-images-a72991102b62" TargetMode="External"/><Relationship Id="rId2" Type="http://schemas.openxmlformats.org/officeDocument/2006/relationships/hyperlink" Target="https://github.com/facebookresearch/sam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data-science-in-your-pocket/meta-sam3-computer-vision-ai-that-can-do-everything-a041f76ac36c" TargetMode="External"/><Relationship Id="rId11" Type="http://schemas.openxmlformats.org/officeDocument/2006/relationships/hyperlink" Target="https://medium.com/axinc-ai/grounding-dino-detect-any-object-from-text-29808580cb32" TargetMode="External"/><Relationship Id="rId5" Type="http://schemas.openxmlformats.org/officeDocument/2006/relationships/hyperlink" Target="https://sodevelopment.medium.com/inside-sam-3-the-next-generation-of-metas-segment-anything-model-dfce8eae4c89" TargetMode="External"/><Relationship Id="rId10" Type="http://schemas.openxmlformats.org/officeDocument/2006/relationships/hyperlink" Target="https://akmaier.medium.com/detr-how-transformers-transformed-object-detection-1be0dbde7cb1" TargetMode="External"/><Relationship Id="rId4" Type="http://schemas.openxmlformats.org/officeDocument/2006/relationships/hyperlink" Target="https://learnopencv.com/sam-3-whats-new/" TargetMode="External"/><Relationship Id="rId9" Type="http://schemas.openxmlformats.org/officeDocument/2006/relationships/hyperlink" Target="https://medium.com/@rafaeltol/understanding-and-coding-detr-detection-transfomer-80e4c206fbc8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it-IT" dirty="0" err="1" smtClean="0">
                <a:solidFill>
                  <a:schemeClr val="bg1"/>
                </a:solidFill>
              </a:rPr>
              <a:t>Weapons</a:t>
            </a:r>
            <a:r>
              <a:rPr lang="it-IT" dirty="0" smtClean="0">
                <a:solidFill>
                  <a:schemeClr val="bg1"/>
                </a:solidFill>
              </a:rPr>
              <a:t> and </a:t>
            </a:r>
            <a:r>
              <a:rPr lang="it-IT" dirty="0" err="1" smtClean="0">
                <a:solidFill>
                  <a:schemeClr val="bg1"/>
                </a:solidFill>
              </a:rPr>
              <a:t>person</a:t>
            </a:r>
            <a:r>
              <a:rPr lang="it-IT" dirty="0" smtClean="0">
                <a:solidFill>
                  <a:schemeClr val="bg1"/>
                </a:solidFill>
              </a:rPr>
              <a:t> </a:t>
            </a:r>
            <a:r>
              <a:rPr lang="it-IT" dirty="0" err="1" smtClean="0">
                <a:solidFill>
                  <a:schemeClr val="bg1"/>
                </a:solidFill>
              </a:rPr>
              <a:t>detection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r>
              <a:rPr lang="it-IT" b="1" dirty="0"/>
              <a:t>un confronto tra architetture di </a:t>
            </a:r>
            <a:r>
              <a:rPr lang="it-IT" b="1" dirty="0" err="1"/>
              <a:t>Deep</a:t>
            </a:r>
            <a:r>
              <a:rPr lang="it-IT" b="1" dirty="0"/>
              <a:t> </a:t>
            </a:r>
            <a:r>
              <a:rPr lang="it-IT" b="1" dirty="0" smtClean="0"/>
              <a:t>Learning: </a:t>
            </a:r>
            <a:r>
              <a:rPr lang="it-IT" b="1" dirty="0" err="1" smtClean="0"/>
              <a:t>grounding</a:t>
            </a:r>
            <a:r>
              <a:rPr lang="it-IT" b="1" dirty="0" smtClean="0"/>
              <a:t> </a:t>
            </a:r>
            <a:r>
              <a:rPr lang="it-IT" b="1" dirty="0" err="1" smtClean="0"/>
              <a:t>dino</a:t>
            </a:r>
            <a:r>
              <a:rPr lang="it-IT" b="1" dirty="0" smtClean="0"/>
              <a:t>, </a:t>
            </a:r>
            <a:r>
              <a:rPr lang="it-IT" b="1" dirty="0" err="1" smtClean="0"/>
              <a:t>detr</a:t>
            </a:r>
            <a:r>
              <a:rPr lang="it-IT" b="1" dirty="0" smtClean="0"/>
              <a:t>, </a:t>
            </a:r>
            <a:r>
              <a:rPr lang="it-IT" b="1" dirty="0" err="1" smtClean="0"/>
              <a:t>sam</a:t>
            </a:r>
            <a:r>
              <a:rPr lang="it-IT" b="1" dirty="0" smtClean="0"/>
              <a:t> 3</a:t>
            </a:r>
            <a:endParaRPr lang="it-IT" b="1" dirty="0"/>
          </a:p>
          <a:p>
            <a:pPr rtl="0"/>
            <a:endParaRPr lang="it-IT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 err="1" smtClean="0"/>
              <a:t>workflow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>
            <a:normAutofit/>
          </a:bodyPr>
          <a:lstStyle/>
          <a:p>
            <a:pPr algn="just"/>
            <a:r>
              <a:rPr lang="it-IT" b="1" dirty="0" smtClean="0"/>
              <a:t>Zero-</a:t>
            </a:r>
            <a:r>
              <a:rPr lang="it-IT" b="1" dirty="0" err="1" smtClean="0"/>
              <a:t>Shot</a:t>
            </a:r>
            <a:r>
              <a:rPr lang="it-IT" b="1" dirty="0" smtClean="0"/>
              <a:t> (</a:t>
            </a:r>
            <a:r>
              <a:rPr lang="it-IT" b="1" dirty="0" err="1" smtClean="0"/>
              <a:t>Grounding</a:t>
            </a:r>
            <a:r>
              <a:rPr lang="it-IT" b="1" dirty="0" smtClean="0"/>
              <a:t> Dino </a:t>
            </a:r>
            <a:r>
              <a:rPr lang="it-IT" b="1" dirty="0"/>
              <a:t>e </a:t>
            </a:r>
            <a:r>
              <a:rPr lang="it-IT" b="1" dirty="0" smtClean="0"/>
              <a:t>SAM 3): </a:t>
            </a:r>
            <a:r>
              <a:rPr lang="it-IT" dirty="0" smtClean="0"/>
              <a:t>Identificazione </a:t>
            </a:r>
            <a:r>
              <a:rPr lang="it-IT" dirty="0"/>
              <a:t>tramite </a:t>
            </a:r>
            <a:r>
              <a:rPr lang="it-IT" dirty="0" err="1"/>
              <a:t>prompt</a:t>
            </a:r>
            <a:r>
              <a:rPr lang="it-IT" dirty="0"/>
              <a:t> testuale (</a:t>
            </a:r>
            <a:r>
              <a:rPr lang="it-IT" i="1" dirty="0"/>
              <a:t>"</a:t>
            </a:r>
            <a:r>
              <a:rPr lang="it-IT" i="1" dirty="0" err="1"/>
              <a:t>person</a:t>
            </a:r>
            <a:r>
              <a:rPr lang="it-IT" i="1" dirty="0"/>
              <a:t> . </a:t>
            </a:r>
            <a:r>
              <a:rPr lang="it-IT" i="1" dirty="0" err="1"/>
              <a:t>weapon</a:t>
            </a:r>
            <a:r>
              <a:rPr lang="it-IT" i="1" dirty="0"/>
              <a:t>"</a:t>
            </a:r>
            <a:r>
              <a:rPr lang="it-IT" dirty="0"/>
              <a:t>) basata su conoscenza pregressa</a:t>
            </a:r>
            <a:r>
              <a:rPr lang="it-IT" dirty="0" smtClean="0"/>
              <a:t>.</a:t>
            </a:r>
          </a:p>
          <a:p>
            <a:pPr algn="just"/>
            <a:r>
              <a:rPr lang="it-IT" b="1" dirty="0" smtClean="0"/>
              <a:t>Supervisionato (DETR): </a:t>
            </a:r>
            <a:r>
              <a:rPr lang="it-IT" dirty="0"/>
              <a:t>A</a:t>
            </a:r>
            <a:r>
              <a:rPr lang="it-IT" dirty="0" smtClean="0"/>
              <a:t>ddestramento specifico sulle classi per testare la capacità di generalizzazione rispetto ai modelli </a:t>
            </a:r>
            <a:r>
              <a:rPr lang="it-IT" dirty="0" err="1" smtClean="0"/>
              <a:t>pre</a:t>
            </a:r>
            <a:r>
              <a:rPr lang="it-IT" dirty="0" smtClean="0"/>
              <a:t>-addestrati.</a:t>
            </a:r>
          </a:p>
          <a:p>
            <a:pPr algn="just"/>
            <a:r>
              <a:rPr lang="it-IT" dirty="0" smtClean="0"/>
              <a:t>Esecuzione sul test set per l’estrazione di: </a:t>
            </a:r>
            <a:r>
              <a:rPr lang="it-IT" b="1" dirty="0" err="1" smtClean="0"/>
              <a:t>Coordinates</a:t>
            </a:r>
            <a:r>
              <a:rPr lang="it-IT" dirty="0" smtClean="0"/>
              <a:t>(localizzazione spaziale), </a:t>
            </a:r>
            <a:r>
              <a:rPr lang="it-IT" b="1" dirty="0" err="1" smtClean="0"/>
              <a:t>Logits</a:t>
            </a:r>
            <a:r>
              <a:rPr lang="it-IT" dirty="0" smtClean="0"/>
              <a:t>(confidenza) e </a:t>
            </a:r>
            <a:r>
              <a:rPr lang="it-IT" b="1" dirty="0" err="1" smtClean="0"/>
              <a:t>Phrases</a:t>
            </a:r>
            <a:r>
              <a:rPr lang="it-IT" dirty="0" smtClean="0"/>
              <a:t>(corrispondenza semantica tra oggetto e </a:t>
            </a:r>
            <a:r>
              <a:rPr lang="it-IT" dirty="0" err="1" smtClean="0"/>
              <a:t>prompt</a:t>
            </a:r>
            <a:r>
              <a:rPr lang="it-IT" dirty="0" smtClean="0"/>
              <a:t>).</a:t>
            </a:r>
          </a:p>
          <a:p>
            <a:pPr algn="just"/>
            <a:r>
              <a:rPr lang="it-IT" dirty="0" smtClean="0"/>
              <a:t>Conversione degli output nel formato standard </a:t>
            </a:r>
            <a:r>
              <a:rPr lang="it-IT" b="1" dirty="0" smtClean="0"/>
              <a:t>MS COCO JSON</a:t>
            </a:r>
            <a:r>
              <a:rPr lang="it-IT" dirty="0" smtClean="0"/>
              <a:t>.</a:t>
            </a:r>
          </a:p>
          <a:p>
            <a:pPr algn="just"/>
            <a:r>
              <a:rPr lang="it-IT" dirty="0" smtClean="0"/>
              <a:t>Confronto diretto tra </a:t>
            </a:r>
            <a:r>
              <a:rPr lang="it-IT" b="1" dirty="0" smtClean="0"/>
              <a:t>Predizioni</a:t>
            </a:r>
            <a:r>
              <a:rPr lang="it-IT" dirty="0" smtClean="0"/>
              <a:t> e </a:t>
            </a:r>
            <a:r>
              <a:rPr lang="it-IT" b="1" dirty="0" smtClean="0"/>
              <a:t>Ground </a:t>
            </a:r>
            <a:r>
              <a:rPr lang="it-IT" b="1" dirty="0" err="1" smtClean="0"/>
              <a:t>Truth</a:t>
            </a:r>
            <a:r>
              <a:rPr lang="it-IT" b="1" dirty="0" smtClean="0"/>
              <a:t>(GT) </a:t>
            </a:r>
            <a:r>
              <a:rPr lang="it-IT" dirty="0" smtClean="0"/>
              <a:t>per il calcolo delle metriche.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Grounding</a:t>
            </a:r>
            <a:r>
              <a:rPr lang="it-IT" dirty="0" smtClean="0"/>
              <a:t> </a:t>
            </a:r>
            <a:r>
              <a:rPr lang="it-IT" dirty="0" err="1" smtClean="0"/>
              <a:t>dino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544526"/>
            <a:ext cx="5422390" cy="3633047"/>
          </a:xfrm>
        </p:spPr>
        <p:txBody>
          <a:bodyPr>
            <a:noAutofit/>
          </a:bodyPr>
          <a:lstStyle/>
          <a:p>
            <a:pPr algn="just"/>
            <a:r>
              <a:rPr lang="it-IT" b="1" dirty="0" err="1"/>
              <a:t>Feature</a:t>
            </a:r>
            <a:r>
              <a:rPr lang="it-IT" b="1" dirty="0"/>
              <a:t> </a:t>
            </a:r>
            <a:r>
              <a:rPr lang="it-IT" b="1" dirty="0" err="1"/>
              <a:t>Enhancer</a:t>
            </a:r>
            <a:r>
              <a:rPr lang="it-IT" dirty="0"/>
              <a:t>: </a:t>
            </a:r>
            <a:r>
              <a:rPr lang="it-IT" dirty="0" smtClean="0"/>
              <a:t>Fonde </a:t>
            </a:r>
            <a:r>
              <a:rPr lang="it-IT" dirty="0"/>
              <a:t>le caratteristiche dell'immagine provenienti da uno </a:t>
            </a:r>
            <a:r>
              <a:rPr lang="it-IT" dirty="0" err="1"/>
              <a:t>Swin</a:t>
            </a:r>
            <a:r>
              <a:rPr lang="it-IT" dirty="0"/>
              <a:t> Transformer con gli </a:t>
            </a:r>
            <a:r>
              <a:rPr lang="it-IT" dirty="0" err="1"/>
              <a:t>embedding</a:t>
            </a:r>
            <a:r>
              <a:rPr lang="it-IT" dirty="0"/>
              <a:t> di testo generati da </a:t>
            </a:r>
            <a:r>
              <a:rPr lang="it-IT" dirty="0" smtClean="0"/>
              <a:t>BERT grazie </a:t>
            </a:r>
            <a:r>
              <a:rPr lang="it-IT" dirty="0"/>
              <a:t>a un meccanismo di attenzione incrociata tra i </a:t>
            </a:r>
            <a:r>
              <a:rPr lang="it-IT" dirty="0" err="1"/>
              <a:t>token</a:t>
            </a:r>
            <a:r>
              <a:rPr lang="it-IT" dirty="0"/>
              <a:t> visivi e testuali. </a:t>
            </a:r>
            <a:endParaRPr lang="it-IT" dirty="0" smtClean="0"/>
          </a:p>
          <a:p>
            <a:pPr algn="just"/>
            <a:r>
              <a:rPr lang="it-IT" b="1" dirty="0"/>
              <a:t>Query guidate dal linguaggio</a:t>
            </a:r>
            <a:r>
              <a:rPr lang="it-IT" dirty="0"/>
              <a:t>: </a:t>
            </a:r>
            <a:r>
              <a:rPr lang="it-IT" dirty="0" smtClean="0"/>
              <a:t>Una </a:t>
            </a:r>
            <a:r>
              <a:rPr lang="it-IT" dirty="0"/>
              <a:t>selezione delle </a:t>
            </a:r>
            <a:r>
              <a:rPr lang="it-IT" dirty="0" err="1"/>
              <a:t>query</a:t>
            </a:r>
            <a:r>
              <a:rPr lang="it-IT" dirty="0"/>
              <a:t> guidata dal linguaggio per individuare le regioni dell'immagine più rilevanti in base al testo di </a:t>
            </a:r>
            <a:r>
              <a:rPr lang="it-IT" dirty="0" smtClean="0"/>
              <a:t>input.</a:t>
            </a:r>
          </a:p>
          <a:p>
            <a:pPr algn="just"/>
            <a:r>
              <a:rPr lang="it-IT" b="1" dirty="0" smtClean="0"/>
              <a:t>Decodificatore cross-modalità:</a:t>
            </a:r>
            <a:r>
              <a:rPr lang="it-IT" dirty="0" smtClean="0"/>
              <a:t> </a:t>
            </a:r>
            <a:r>
              <a:rPr lang="it-IT" dirty="0"/>
              <a:t>C</a:t>
            </a:r>
            <a:r>
              <a:rPr lang="it-IT" dirty="0" smtClean="0"/>
              <a:t>onfronta ogni </a:t>
            </a:r>
            <a:r>
              <a:rPr lang="it-IT" dirty="0" err="1"/>
              <a:t>query</a:t>
            </a:r>
            <a:r>
              <a:rPr lang="it-IT" dirty="0"/>
              <a:t> con le caratteristiche sia dell'immagine che del </a:t>
            </a:r>
            <a:r>
              <a:rPr lang="it-IT" dirty="0" smtClean="0"/>
              <a:t>testo per </a:t>
            </a:r>
            <a:r>
              <a:rPr lang="it-IT" dirty="0"/>
              <a:t>produrre </a:t>
            </a:r>
            <a:r>
              <a:rPr lang="it-IT" dirty="0" err="1"/>
              <a:t>bounding</a:t>
            </a:r>
            <a:r>
              <a:rPr lang="it-IT" dirty="0"/>
              <a:t> box estremamente </a:t>
            </a:r>
            <a:r>
              <a:rPr lang="it-IT" dirty="0" smtClean="0"/>
              <a:t>precise.</a:t>
            </a:r>
          </a:p>
          <a:p>
            <a:pPr algn="just"/>
            <a:r>
              <a:rPr lang="it-IT" b="1" dirty="0" err="1"/>
              <a:t>Grounding</a:t>
            </a:r>
            <a:r>
              <a:rPr lang="it-IT" b="1" dirty="0"/>
              <a:t> delle sotto-frasi</a:t>
            </a:r>
            <a:r>
              <a:rPr lang="it-IT" dirty="0"/>
              <a:t>: I</a:t>
            </a:r>
            <a:r>
              <a:rPr lang="it-IT" dirty="0" smtClean="0"/>
              <a:t>sola </a:t>
            </a:r>
            <a:r>
              <a:rPr lang="it-IT" dirty="0"/>
              <a:t>ogni blocco di testo o nome di categoria per evitare che il modello mescoli concetti non correlati</a:t>
            </a:r>
          </a:p>
        </p:txBody>
      </p:sp>
      <p:pic>
        <p:nvPicPr>
          <p:cNvPr id="7" name="Segnaposto contenuto 6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734" y="2227262"/>
            <a:ext cx="3528000" cy="410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Ovale 7"/>
          <p:cNvSpPr/>
          <p:nvPr/>
        </p:nvSpPr>
        <p:spPr>
          <a:xfrm>
            <a:off x="8721969" y="4545623"/>
            <a:ext cx="993531" cy="37806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/>
          <p:cNvSpPr/>
          <p:nvPr/>
        </p:nvSpPr>
        <p:spPr>
          <a:xfrm>
            <a:off x="9454661" y="3901193"/>
            <a:ext cx="993531" cy="37806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/>
          <p:cNvSpPr/>
          <p:nvPr/>
        </p:nvSpPr>
        <p:spPr>
          <a:xfrm>
            <a:off x="9454660" y="3391921"/>
            <a:ext cx="993532" cy="4083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712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Sam 3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302815" y="2353041"/>
            <a:ext cx="5422390" cy="428839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it-IT" sz="1900" b="1" dirty="0"/>
              <a:t>Fusion </a:t>
            </a:r>
            <a:r>
              <a:rPr lang="it-IT" sz="1900" b="1" dirty="0" smtClean="0"/>
              <a:t>Encoder: </a:t>
            </a:r>
            <a:r>
              <a:rPr lang="it-IT" sz="1900" dirty="0"/>
              <a:t>F</a:t>
            </a:r>
            <a:r>
              <a:rPr lang="it-IT" sz="1900" dirty="0" smtClean="0"/>
              <a:t>unge </a:t>
            </a:r>
            <a:r>
              <a:rPr lang="it-IT" sz="1900" dirty="0"/>
              <a:t>da ponte tra il dominio visivo e il </a:t>
            </a:r>
            <a:r>
              <a:rPr lang="it-IT" sz="1900" dirty="0" err="1"/>
              <a:t>prompt</a:t>
            </a:r>
            <a:r>
              <a:rPr lang="it-IT" sz="1900" dirty="0"/>
              <a:t> fornito </a:t>
            </a:r>
            <a:r>
              <a:rPr lang="it-IT" sz="1900" dirty="0" smtClean="0"/>
              <a:t>dall'utente.</a:t>
            </a:r>
            <a:r>
              <a:rPr lang="it-IT" sz="1900" dirty="0"/>
              <a:t> </a:t>
            </a:r>
            <a:r>
              <a:rPr lang="it-IT" sz="1900" dirty="0" smtClean="0"/>
              <a:t>Preleva </a:t>
            </a:r>
            <a:r>
              <a:rPr lang="it-IT" sz="1900" dirty="0"/>
              <a:t>le caratteristiche dell'immagine dal </a:t>
            </a:r>
            <a:r>
              <a:rPr lang="it-IT" sz="1900" dirty="0" err="1"/>
              <a:t>backbone</a:t>
            </a:r>
            <a:r>
              <a:rPr lang="it-IT" sz="1900" dirty="0"/>
              <a:t> e le condiziona incrociandole con i </a:t>
            </a:r>
            <a:r>
              <a:rPr lang="it-IT" sz="1900" dirty="0" err="1"/>
              <a:t>token</a:t>
            </a:r>
            <a:r>
              <a:rPr lang="it-IT" sz="1900" dirty="0"/>
              <a:t> del </a:t>
            </a:r>
            <a:r>
              <a:rPr lang="it-IT" sz="1900" dirty="0" err="1" smtClean="0"/>
              <a:t>prompt</a:t>
            </a:r>
            <a:r>
              <a:rPr lang="it-IT" sz="1900" dirty="0" smtClean="0"/>
              <a:t>.</a:t>
            </a:r>
          </a:p>
          <a:p>
            <a:pPr algn="just"/>
            <a:r>
              <a:rPr lang="it-IT" sz="1900" dirty="0" smtClean="0"/>
              <a:t> </a:t>
            </a:r>
            <a:r>
              <a:rPr lang="it-IT" sz="1900" b="1" dirty="0" smtClean="0"/>
              <a:t>Transformer Decoder: </a:t>
            </a:r>
            <a:r>
              <a:rPr lang="it-IT" sz="1900" dirty="0"/>
              <a:t>Una volta </a:t>
            </a:r>
            <a:r>
              <a:rPr lang="it-IT" sz="1900" dirty="0" smtClean="0"/>
              <a:t>condizionate, </a:t>
            </a:r>
            <a:r>
              <a:rPr lang="it-IT" sz="1900" dirty="0"/>
              <a:t>il modello produce un </a:t>
            </a:r>
            <a:r>
              <a:rPr lang="it-IT" sz="1900" dirty="0" err="1"/>
              <a:t>logit</a:t>
            </a:r>
            <a:r>
              <a:rPr lang="it-IT" sz="1900" dirty="0"/>
              <a:t> di classificazione binaria che indica la pertinenza della regione rispetto al </a:t>
            </a:r>
            <a:r>
              <a:rPr lang="it-IT" sz="1900" dirty="0" err="1"/>
              <a:t>prompt</a:t>
            </a:r>
            <a:r>
              <a:rPr lang="it-IT" sz="1900" dirty="0"/>
              <a:t>, predicendo simultaneamente le coordinate del </a:t>
            </a:r>
            <a:r>
              <a:rPr lang="it-IT" sz="1900" dirty="0" err="1"/>
              <a:t>bounding</a:t>
            </a:r>
            <a:r>
              <a:rPr lang="it-IT" sz="1900" dirty="0"/>
              <a:t> box e le relative maschere di </a:t>
            </a:r>
            <a:r>
              <a:rPr lang="it-IT" sz="1900" dirty="0" smtClean="0"/>
              <a:t>segmentazione.</a:t>
            </a:r>
          </a:p>
          <a:p>
            <a:pPr algn="just"/>
            <a:r>
              <a:rPr lang="it-IT" sz="1900" dirty="0" smtClean="0"/>
              <a:t>Il Decoder </a:t>
            </a:r>
            <a:r>
              <a:rPr lang="it-IT" sz="1900" dirty="0"/>
              <a:t>impiega strategie di "Divide-And-</a:t>
            </a:r>
            <a:r>
              <a:rPr lang="it-IT" sz="1900" dirty="0" err="1"/>
              <a:t>Conquer</a:t>
            </a:r>
            <a:r>
              <a:rPr lang="it-IT" sz="1900" dirty="0"/>
              <a:t>" (DAC)</a:t>
            </a:r>
            <a:r>
              <a:rPr lang="it-IT" sz="1900" dirty="0" smtClean="0"/>
              <a:t> per </a:t>
            </a:r>
            <a:r>
              <a:rPr lang="it-IT" sz="1900" dirty="0"/>
              <a:t>garantire confini "</a:t>
            </a:r>
            <a:r>
              <a:rPr lang="it-IT" sz="1900" dirty="0" smtClean="0"/>
              <a:t>pixel-</a:t>
            </a:r>
            <a:r>
              <a:rPr lang="it-IT" sz="1900" dirty="0" err="1" smtClean="0"/>
              <a:t>perfect</a:t>
            </a:r>
            <a:r>
              <a:rPr lang="it-IT" sz="1900" dirty="0" smtClean="0"/>
              <a:t>". </a:t>
            </a:r>
            <a:r>
              <a:rPr lang="it-IT" sz="1900" dirty="0"/>
              <a:t>L'innovazione più significativa introdotta da SAM 3 è tuttavia la </a:t>
            </a:r>
            <a:r>
              <a:rPr lang="it-IT" sz="1900" b="1" dirty="0" err="1"/>
              <a:t>Presence</a:t>
            </a:r>
            <a:r>
              <a:rPr lang="it-IT" sz="1900" b="1" dirty="0"/>
              <a:t> </a:t>
            </a:r>
            <a:r>
              <a:rPr lang="it-IT" sz="1900" b="1" dirty="0" smtClean="0"/>
              <a:t>Head </a:t>
            </a:r>
            <a:r>
              <a:rPr lang="it-IT" sz="1900" dirty="0" smtClean="0"/>
              <a:t>che  introduce </a:t>
            </a:r>
            <a:r>
              <a:rPr lang="it-IT" sz="1900" dirty="0"/>
              <a:t>un </a:t>
            </a:r>
            <a:r>
              <a:rPr lang="it-IT" sz="1900" dirty="0" err="1"/>
              <a:t>token</a:t>
            </a:r>
            <a:r>
              <a:rPr lang="it-IT" sz="1900" dirty="0"/>
              <a:t> globale appreso che valuta l'intero contesto dell'immagine prima della localizzazione </a:t>
            </a:r>
            <a:r>
              <a:rPr lang="it-IT" sz="1900" dirty="0" smtClean="0"/>
              <a:t>specifica.</a:t>
            </a:r>
          </a:p>
          <a:p>
            <a:pPr algn="just"/>
            <a:endParaRPr lang="it-IT" dirty="0"/>
          </a:p>
        </p:txBody>
      </p:sp>
      <p:pic>
        <p:nvPicPr>
          <p:cNvPr id="1026" name="Picture 2" descr="https://learnopencv.com/wp-content/uploads/2025/12/detailed_architecture-1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126" y="2353041"/>
            <a:ext cx="5851229" cy="2808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e 7"/>
          <p:cNvSpPr/>
          <p:nvPr/>
        </p:nvSpPr>
        <p:spPr>
          <a:xfrm rot="5400000">
            <a:off x="6538753" y="2790556"/>
            <a:ext cx="594948" cy="7645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/>
          <p:cNvSpPr/>
          <p:nvPr/>
        </p:nvSpPr>
        <p:spPr>
          <a:xfrm rot="5400000">
            <a:off x="8995424" y="2873303"/>
            <a:ext cx="495302" cy="69866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/>
          <p:cNvSpPr/>
          <p:nvPr/>
        </p:nvSpPr>
        <p:spPr>
          <a:xfrm rot="5400000">
            <a:off x="10695270" y="3655359"/>
            <a:ext cx="495302" cy="69866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91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DETR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it-IT" b="1" dirty="0" err="1" smtClean="0"/>
              <a:t>Backbone</a:t>
            </a:r>
            <a:r>
              <a:rPr lang="it-IT" b="1" dirty="0" smtClean="0"/>
              <a:t>: </a:t>
            </a:r>
            <a:r>
              <a:rPr lang="it-IT" dirty="0"/>
              <a:t>Questa componente funge da estrattore di caratteristiche, elaborando l'immagine grezza per produrre una rappresentazione visiva ad alto </a:t>
            </a:r>
            <a:r>
              <a:rPr lang="it-IT" dirty="0" smtClean="0"/>
              <a:t>livello.</a:t>
            </a:r>
          </a:p>
          <a:p>
            <a:pPr algn="just"/>
            <a:r>
              <a:rPr lang="it-IT" b="1" dirty="0" smtClean="0"/>
              <a:t>Encoder: </a:t>
            </a:r>
            <a:r>
              <a:rPr lang="it-IT" dirty="0"/>
              <a:t>I</a:t>
            </a:r>
            <a:r>
              <a:rPr lang="it-IT" dirty="0" smtClean="0"/>
              <a:t>l </a:t>
            </a:r>
            <a:r>
              <a:rPr lang="it-IT" dirty="0"/>
              <a:t>sistema sfrutta meccanismi di Multi-Head Self-</a:t>
            </a:r>
            <a:r>
              <a:rPr lang="it-IT" dirty="0" err="1"/>
              <a:t>Attention</a:t>
            </a:r>
            <a:r>
              <a:rPr lang="it-IT" dirty="0"/>
              <a:t> per analizzare contemporaneamente diverse parti dell'immagine, catturando le dipendenze a lungo raggio e comprendendo le relazioni contestuali tra regioni distanti. </a:t>
            </a:r>
            <a:endParaRPr lang="it-IT" dirty="0" smtClean="0"/>
          </a:p>
          <a:p>
            <a:pPr algn="just"/>
            <a:r>
              <a:rPr lang="it-IT" b="1" dirty="0" smtClean="0"/>
              <a:t>Decoder: </a:t>
            </a:r>
            <a:r>
              <a:rPr lang="it-IT" dirty="0" smtClean="0"/>
              <a:t>Accetta in input sia le caratteristiche codificate dall'encoder sia un set di </a:t>
            </a:r>
            <a:r>
              <a:rPr lang="it-IT" dirty="0" err="1" smtClean="0"/>
              <a:t>query</a:t>
            </a:r>
            <a:r>
              <a:rPr lang="it-IT" dirty="0" smtClean="0"/>
              <a:t> di oggetti appresi. </a:t>
            </a:r>
            <a:r>
              <a:rPr lang="it-IT" dirty="0"/>
              <a:t>il decoder introduce la Multi-Head Cross-</a:t>
            </a:r>
            <a:r>
              <a:rPr lang="it-IT" dirty="0" err="1"/>
              <a:t>Attention</a:t>
            </a:r>
            <a:r>
              <a:rPr lang="it-IT" dirty="0"/>
              <a:t>, un meccanismo che permette alle </a:t>
            </a:r>
            <a:r>
              <a:rPr lang="it-IT" dirty="0" err="1"/>
              <a:t>query</a:t>
            </a:r>
            <a:r>
              <a:rPr lang="it-IT" dirty="0"/>
              <a:t> di interagire attivamente con le caratteristiche prodotte dall'encoder. Il risultato di questa fase è un insieme di </a:t>
            </a:r>
            <a:r>
              <a:rPr lang="it-IT" dirty="0" err="1" smtClean="0"/>
              <a:t>embeddings</a:t>
            </a:r>
            <a:r>
              <a:rPr lang="it-IT" dirty="0" smtClean="0"/>
              <a:t> </a:t>
            </a:r>
            <a:r>
              <a:rPr lang="it-IT" dirty="0"/>
              <a:t>che rappresentano i potenziali oggetti identificati all'interno dell'immagine.</a:t>
            </a:r>
          </a:p>
          <a:p>
            <a:pPr algn="just"/>
            <a:r>
              <a:rPr lang="it-IT" b="1" dirty="0" err="1" smtClean="0"/>
              <a:t>Prediction</a:t>
            </a:r>
            <a:r>
              <a:rPr lang="it-IT" b="1" dirty="0" smtClean="0"/>
              <a:t> Heads:  </a:t>
            </a:r>
            <a:r>
              <a:rPr lang="it-IT" dirty="0"/>
              <a:t>E</a:t>
            </a:r>
            <a:r>
              <a:rPr lang="it-IT" dirty="0" smtClean="0"/>
              <a:t>laborano </a:t>
            </a:r>
            <a:r>
              <a:rPr lang="it-IT" dirty="0"/>
              <a:t>le </a:t>
            </a:r>
            <a:r>
              <a:rPr lang="it-IT" dirty="0" err="1"/>
              <a:t>query</a:t>
            </a:r>
            <a:r>
              <a:rPr lang="it-IT" dirty="0"/>
              <a:t> degli oggetti provenienti dal decodificatore per determinare se un oggetto sia effettivamente presente e, in caso affermativo, calcolare le coordinate del relativo </a:t>
            </a:r>
            <a:r>
              <a:rPr lang="it-IT" dirty="0" err="1"/>
              <a:t>bounding</a:t>
            </a:r>
            <a:r>
              <a:rPr lang="it-IT" dirty="0"/>
              <a:t> </a:t>
            </a:r>
            <a:r>
              <a:rPr lang="it-IT" dirty="0" smtClean="0"/>
              <a:t>box.</a:t>
            </a:r>
            <a:endParaRPr lang="it-IT" b="1" dirty="0"/>
          </a:p>
        </p:txBody>
      </p:sp>
      <p:pic>
        <p:nvPicPr>
          <p:cNvPr id="5" name="Segnaposto contenuto 4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3239194"/>
            <a:ext cx="5616000" cy="1944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229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0" y="2035497"/>
            <a:ext cx="5422390" cy="5119282"/>
          </a:xfrm>
        </p:spPr>
        <p:txBody>
          <a:bodyPr>
            <a:normAutofit lnSpcReduction="10000"/>
          </a:bodyPr>
          <a:lstStyle/>
          <a:p>
            <a:pPr algn="just"/>
            <a:r>
              <a:rPr lang="it-IT" b="1" dirty="0" smtClean="0"/>
              <a:t>SAM 3: </a:t>
            </a:r>
            <a:r>
              <a:rPr lang="it-IT" dirty="0" smtClean="0"/>
              <a:t>Questi </a:t>
            </a:r>
            <a:r>
              <a:rPr lang="it-IT" dirty="0"/>
              <a:t>numeri trovano una giustificazione diretta nell'introduzione della </a:t>
            </a:r>
            <a:r>
              <a:rPr lang="it-IT" dirty="0" err="1"/>
              <a:t>Presence</a:t>
            </a:r>
            <a:r>
              <a:rPr lang="it-IT" dirty="0"/>
              <a:t> </a:t>
            </a:r>
            <a:r>
              <a:rPr lang="it-IT" dirty="0" smtClean="0"/>
              <a:t>Head e del </a:t>
            </a:r>
            <a:r>
              <a:rPr lang="it-IT" dirty="0"/>
              <a:t>suo </a:t>
            </a:r>
            <a:r>
              <a:rPr lang="it-IT" dirty="0" err="1"/>
              <a:t>token</a:t>
            </a:r>
            <a:r>
              <a:rPr lang="it-IT" dirty="0"/>
              <a:t> globale per validare la presenza semantica dell'arma prima ancora di procedere alla sua </a:t>
            </a:r>
            <a:r>
              <a:rPr lang="it-IT" dirty="0" smtClean="0"/>
              <a:t>localizzazione.</a:t>
            </a:r>
          </a:p>
          <a:p>
            <a:pPr algn="just"/>
            <a:r>
              <a:rPr lang="it-IT" b="1" dirty="0" err="1" smtClean="0"/>
              <a:t>Grounding</a:t>
            </a:r>
            <a:r>
              <a:rPr lang="it-IT" b="1" dirty="0" smtClean="0"/>
              <a:t> Dino:  </a:t>
            </a:r>
            <a:r>
              <a:rPr lang="it-IT" dirty="0"/>
              <a:t>L</a:t>
            </a:r>
            <a:r>
              <a:rPr lang="it-IT" dirty="0" smtClean="0"/>
              <a:t>a </a:t>
            </a:r>
            <a:r>
              <a:rPr lang="it-IT" dirty="0"/>
              <a:t>selezione delle </a:t>
            </a:r>
            <a:r>
              <a:rPr lang="it-IT" dirty="0" err="1"/>
              <a:t>query</a:t>
            </a:r>
            <a:r>
              <a:rPr lang="it-IT" dirty="0"/>
              <a:t> guidata dal linguaggio permette a </a:t>
            </a:r>
            <a:r>
              <a:rPr lang="it-IT" dirty="0" err="1"/>
              <a:t>Grounding</a:t>
            </a:r>
            <a:r>
              <a:rPr lang="it-IT" dirty="0"/>
              <a:t> DINO di concentrare le risorse computazionali sulle regioni dell'immagine effettivamente coerenti con il </a:t>
            </a:r>
            <a:r>
              <a:rPr lang="it-IT" dirty="0" err="1"/>
              <a:t>prompt</a:t>
            </a:r>
            <a:r>
              <a:rPr lang="it-IT" dirty="0"/>
              <a:t> </a:t>
            </a:r>
            <a:r>
              <a:rPr lang="it-IT" dirty="0" smtClean="0"/>
              <a:t>testuale. </a:t>
            </a:r>
            <a:r>
              <a:rPr lang="it-IT" dirty="0"/>
              <a:t>la strategia di </a:t>
            </a:r>
            <a:r>
              <a:rPr lang="it-IT" dirty="0" err="1"/>
              <a:t>grounding</a:t>
            </a:r>
            <a:r>
              <a:rPr lang="it-IT" dirty="0"/>
              <a:t> delle sotto-frasi garantisce una chiarezza semantica che evita confusioni tra concetti </a:t>
            </a:r>
            <a:r>
              <a:rPr lang="it-IT" dirty="0" smtClean="0"/>
              <a:t>diversi.</a:t>
            </a:r>
          </a:p>
          <a:p>
            <a:pPr algn="just"/>
            <a:r>
              <a:rPr lang="it-IT" b="1" dirty="0" err="1" smtClean="0"/>
              <a:t>Detr</a:t>
            </a:r>
            <a:r>
              <a:rPr lang="it-IT" b="1" dirty="0" smtClean="0"/>
              <a:t>: </a:t>
            </a:r>
            <a:r>
              <a:rPr lang="it-IT" dirty="0" smtClean="0"/>
              <a:t>Essendo </a:t>
            </a:r>
            <a:r>
              <a:rPr lang="it-IT" dirty="0"/>
              <a:t>vincolato a un addestramento statico e a categorie fisse, il DETR non possiede la flessibilità necessaria per interpretare correttamente i dettagli minuti di una pistola a distanza, confermando l'inadeguatezza delle architetture a set chiuso per le sfide più avanzate della videosorveglianza moderna.</a:t>
            </a:r>
          </a:p>
          <a:p>
            <a:endParaRPr lang="it-IT" b="1" dirty="0" smtClean="0"/>
          </a:p>
        </p:txBody>
      </p:sp>
      <p:graphicFrame>
        <p:nvGraphicFramePr>
          <p:cNvPr id="5" name="Segnaposto contenuto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93467099"/>
              </p:ext>
            </p:extLst>
          </p:nvPr>
        </p:nvGraphicFramePr>
        <p:xfrm>
          <a:off x="5627078" y="2228001"/>
          <a:ext cx="6119442" cy="36330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4206">
                  <a:extLst>
                    <a:ext uri="{9D8B030D-6E8A-4147-A177-3AD203B41FA5}">
                      <a16:colId xmlns:a16="http://schemas.microsoft.com/office/drawing/2014/main" val="707487108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3805168118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2962465279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3270857421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2048569445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3169264770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1235815183"/>
                    </a:ext>
                  </a:extLst>
                </a:gridCol>
              </a:tblGrid>
              <a:tr h="908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Modello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mAP (0.50:0.95)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AP@0.75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AP small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AP medium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AP large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AR@100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3909931379"/>
                  </a:ext>
                </a:extLst>
              </a:tr>
              <a:tr h="908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GROUNDING DINO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 dirty="0">
                          <a:effectLst/>
                        </a:rPr>
                        <a:t>0.681</a:t>
                      </a:r>
                      <a:endParaRPr lang="it-IT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 dirty="0">
                          <a:effectLst/>
                        </a:rPr>
                        <a:t>0.704</a:t>
                      </a:r>
                      <a:endParaRPr lang="it-IT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0.354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0.291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0.793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0.720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2867308665"/>
                  </a:ext>
                </a:extLst>
              </a:tr>
              <a:tr h="908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DETR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 dirty="0">
                          <a:effectLst/>
                        </a:rPr>
                        <a:t>0.600</a:t>
                      </a:r>
                      <a:endParaRPr lang="it-IT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0.635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0.002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0.094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0.723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0.653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2734372988"/>
                  </a:ext>
                </a:extLst>
              </a:tr>
              <a:tr h="908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SAM3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 dirty="0">
                          <a:effectLst/>
                        </a:rPr>
                        <a:t>0.814</a:t>
                      </a:r>
                      <a:endParaRPr lang="it-IT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0.835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0.517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0.532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>
                          <a:effectLst/>
                        </a:rPr>
                        <a:t>0.909</a:t>
                      </a:r>
                      <a:endParaRPr lang="it-IT" sz="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600" dirty="0">
                          <a:effectLst/>
                        </a:rPr>
                        <a:t>0.836</a:t>
                      </a:r>
                      <a:endParaRPr lang="it-IT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1773496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73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SAM 3 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 smtClean="0"/>
              <a:t>DETR</a:t>
            </a:r>
            <a:endParaRPr lang="it-IT" dirty="0"/>
          </a:p>
        </p:txBody>
      </p:sp>
      <p:pic>
        <p:nvPicPr>
          <p:cNvPr id="7" name="Segnaposto contenuto 6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3" y="2786897"/>
            <a:ext cx="4776869" cy="3822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Segnaposto contenuto 7"/>
          <p:cNvPicPr>
            <a:picLocks noGrp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759" y="2786898"/>
            <a:ext cx="5226049" cy="3822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593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SAM 3 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 err="1" smtClean="0"/>
              <a:t>Grounding</a:t>
            </a:r>
            <a:r>
              <a:rPr lang="it-IT" dirty="0" smtClean="0"/>
              <a:t> Dino</a:t>
            </a:r>
            <a:endParaRPr lang="it-IT" dirty="0"/>
          </a:p>
        </p:txBody>
      </p:sp>
      <p:pic>
        <p:nvPicPr>
          <p:cNvPr id="9" name="Segnaposto contenuto 8"/>
          <p:cNvPicPr>
            <a:picLocks noGrp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517" y="2786897"/>
            <a:ext cx="4684294" cy="3822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Segnaposto contenuto 9"/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4" y="2786897"/>
            <a:ext cx="4937290" cy="3822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466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SAM 3 e </a:t>
            </a:r>
            <a:r>
              <a:rPr lang="it-IT" dirty="0" err="1" smtClean="0"/>
              <a:t>Grounding</a:t>
            </a:r>
            <a:r>
              <a:rPr lang="it-IT" dirty="0" smtClean="0"/>
              <a:t> Dino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 smtClean="0"/>
              <a:t>DETR</a:t>
            </a:r>
            <a:endParaRPr lang="it-IT" dirty="0"/>
          </a:p>
        </p:txBody>
      </p:sp>
      <p:pic>
        <p:nvPicPr>
          <p:cNvPr id="8" name="Segnaposto contenuto 7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3" y="2804265"/>
            <a:ext cx="4712701" cy="3805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Segnaposto contenuto 10"/>
          <p:cNvPicPr>
            <a:picLocks noGrp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735" y="2786897"/>
            <a:ext cx="4721781" cy="3822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956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Sviluppi futuri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it-IT" dirty="0"/>
              <a:t>Un primo sviluppo riguarda l’estensione del </a:t>
            </a:r>
            <a:r>
              <a:rPr lang="it-IT" dirty="0" err="1"/>
              <a:t>framework</a:t>
            </a:r>
            <a:r>
              <a:rPr lang="it-IT" dirty="0"/>
              <a:t> a scenari di videosorveglianza, dove le immagini risultano spesso caratterizzate da bassa risoluzione, rumore, compressione e condizioni di illuminazione non ottimali. </a:t>
            </a:r>
            <a:endParaRPr lang="it-IT" dirty="0" smtClean="0"/>
          </a:p>
          <a:p>
            <a:pPr algn="just"/>
            <a:r>
              <a:rPr lang="it-IT" dirty="0"/>
              <a:t>T</a:t>
            </a:r>
            <a:r>
              <a:rPr lang="it-IT" dirty="0" smtClean="0"/>
              <a:t>ecniche </a:t>
            </a:r>
            <a:r>
              <a:rPr lang="it-IT" dirty="0"/>
              <a:t>di super-</a:t>
            </a:r>
            <a:r>
              <a:rPr lang="it-IT" dirty="0" err="1"/>
              <a:t>resolution</a:t>
            </a:r>
            <a:r>
              <a:rPr lang="it-IT" dirty="0"/>
              <a:t> o di training con dati degradati artificialmente potrebbe migliorare la robustezza dei modelli in queste </a:t>
            </a:r>
            <a:r>
              <a:rPr lang="it-IT" dirty="0" smtClean="0"/>
              <a:t>condizioni.</a:t>
            </a:r>
          </a:p>
          <a:p>
            <a:pPr algn="just"/>
            <a:r>
              <a:rPr lang="it-IT" dirty="0"/>
              <a:t>I</a:t>
            </a:r>
            <a:r>
              <a:rPr lang="it-IT" dirty="0" smtClean="0"/>
              <a:t>mpiego </a:t>
            </a:r>
            <a:r>
              <a:rPr lang="it-IT" dirty="0"/>
              <a:t>di strategie di data </a:t>
            </a:r>
            <a:r>
              <a:rPr lang="it-IT" dirty="0" err="1"/>
              <a:t>augmentation</a:t>
            </a:r>
            <a:r>
              <a:rPr lang="it-IT" dirty="0"/>
              <a:t> e segmentazione </a:t>
            </a:r>
            <a:r>
              <a:rPr lang="it-IT" dirty="0" smtClean="0"/>
              <a:t>mirata</a:t>
            </a:r>
            <a:r>
              <a:rPr lang="it-IT" dirty="0"/>
              <a:t> </a:t>
            </a:r>
            <a:r>
              <a:rPr lang="it-IT" dirty="0"/>
              <a:t>focalizzato sulle regioni contenenti oggetti critici, aumentando la variabilità di scala, orientamento e contesto.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5044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sitografia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2"/>
              </a:rPr>
              <a:t>https://github.com/facebookresearch/sam3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3"/>
              </a:rPr>
              <a:t>https://huggingface.co/facebook/sam3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4"/>
              </a:rPr>
              <a:t>https://learnopencv.com/sam-3-whats-new/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5"/>
              </a:rPr>
              <a:t>https://sodevelopment.medium.com/inside-sam-3-the-next-generation-of-metas-segment-anything-model-dfce8eae4c89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6"/>
              </a:rPr>
              <a:t>https://medium.com/data-science-in-your-pocket/meta-sam3-computer-vision-ai-that-can-do-everything-a041f76ac36c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7"/>
              </a:rPr>
              <a:t>https://ai.meta.com/research/publications/sam-3-segment-anything-with-concepts/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8"/>
              </a:rPr>
              <a:t>https://learnopencv.com/detr-overview-and-inference/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9"/>
              </a:rPr>
              <a:t>https://medium.com/@rafaeltol/understanding-and-coding-detr-detection-transfomer-80e4c206fbc8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10"/>
              </a:rPr>
              <a:t>https://akmaier.medium.com/detr-how-transformers-transformed-object-detection-1be0dbde7cb1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11"/>
              </a:rPr>
              <a:t>https://medium.com/axinc-ai/grounding-dino-detect-any-object-from-text-29808580cb32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12"/>
              </a:rPr>
              <a:t>https://akmaier.medium.com/grounding-dino-how-to-merge-attention-on-text-and-images-a72991102b62</a:t>
            </a:r>
            <a:endParaRPr lang="it-IT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it-IT" b="1" u="sng" dirty="0">
                <a:solidFill>
                  <a:schemeClr val="tx1"/>
                </a:solidFill>
                <a:hlinkClick r:id="rId13"/>
              </a:rPr>
              <a:t>https://github.com/IDEA-Research/GroundingDINO</a:t>
            </a:r>
            <a:endParaRPr lang="it-IT" b="1" dirty="0">
              <a:solidFill>
                <a:schemeClr val="tx1"/>
              </a:solidFill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0151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it-IT">
                <a:solidFill>
                  <a:srgbClr val="FFFFFF"/>
                </a:solidFill>
              </a:rPr>
              <a:t>Grazie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it-IT" dirty="0">
              <a:solidFill>
                <a:schemeClr val="bg2"/>
              </a:solidFill>
            </a:endParaRPr>
          </a:p>
          <a:p>
            <a:pPr rtl="0"/>
            <a:endParaRPr lang="it-IT" dirty="0">
              <a:solidFill>
                <a:schemeClr val="bg2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Progettazione Dividendo per la tecnologia</Template>
  <TotalTime>0</TotalTime>
  <Words>781</Words>
  <Application>Microsoft Office PowerPoint</Application>
  <PresentationFormat>Widescreen</PresentationFormat>
  <Paragraphs>83</Paragraphs>
  <Slides>12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Calibri</vt:lpstr>
      <vt:lpstr>Gill Sans MT</vt:lpstr>
      <vt:lpstr>Times New Roman</vt:lpstr>
      <vt:lpstr>Wingdings 2</vt:lpstr>
      <vt:lpstr>Dividendo</vt:lpstr>
      <vt:lpstr>Weapons and person detection</vt:lpstr>
      <vt:lpstr>workflow</vt:lpstr>
      <vt:lpstr>Grounding dino</vt:lpstr>
      <vt:lpstr>Sam 3</vt:lpstr>
      <vt:lpstr>DETR</vt:lpstr>
      <vt:lpstr>RISULTATI</vt:lpstr>
      <vt:lpstr>output</vt:lpstr>
      <vt:lpstr>output</vt:lpstr>
      <vt:lpstr>output</vt:lpstr>
      <vt:lpstr>Sviluppi futuri</vt:lpstr>
      <vt:lpstr>sitografia</vt:lpstr>
      <vt:lpstr>Grazie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2026-02-17T10:02:54Z</dcterms:created>
  <dcterms:modified xsi:type="dcterms:W3CDTF">2026-02-20T11:55:31Z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